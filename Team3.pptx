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22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</p:sldIdLst>
  <p:sldSz cy="5143500" cx="9144000"/>
  <p:notesSz cx="6858000" cy="9144000"/>
  <p:embeddedFontLst>
    <p:embeddedFont>
      <p:font typeface="Montserrat"/>
      <p:regular r:id="rId28"/>
      <p:bold r:id="rId29"/>
      <p:italic r:id="rId30"/>
      <p:boldItalic r:id="rId31"/>
    </p:embeddedFont>
    <p:embeddedFont>
      <p:font typeface="Lato"/>
      <p:regular r:id="rId32"/>
      <p:bold r:id="rId33"/>
      <p:italic r:id="rId34"/>
      <p:boldItalic r:id="rId3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font" Target="fonts/Montserrat-regular.fntdata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Montserrat-bold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Montserrat-boldItalic.fntdata"/><Relationship Id="rId30" Type="http://schemas.openxmlformats.org/officeDocument/2006/relationships/font" Target="fonts/Montserrat-italic.fntdata"/><Relationship Id="rId11" Type="http://schemas.openxmlformats.org/officeDocument/2006/relationships/slide" Target="slides/slide6.xml"/><Relationship Id="rId33" Type="http://schemas.openxmlformats.org/officeDocument/2006/relationships/font" Target="fonts/Lato-bold.fntdata"/><Relationship Id="rId10" Type="http://schemas.openxmlformats.org/officeDocument/2006/relationships/slide" Target="slides/slide5.xml"/><Relationship Id="rId32" Type="http://schemas.openxmlformats.org/officeDocument/2006/relationships/font" Target="fonts/Lato-regular.fntdata"/><Relationship Id="rId13" Type="http://schemas.openxmlformats.org/officeDocument/2006/relationships/slide" Target="slides/slide8.xml"/><Relationship Id="rId35" Type="http://schemas.openxmlformats.org/officeDocument/2006/relationships/font" Target="fonts/Lato-boldItalic.fntdata"/><Relationship Id="rId12" Type="http://schemas.openxmlformats.org/officeDocument/2006/relationships/slide" Target="slides/slide7.xml"/><Relationship Id="rId34" Type="http://schemas.openxmlformats.org/officeDocument/2006/relationships/font" Target="fonts/Lato-italic.fntdata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3526378ef87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g3526378ef87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3526378ef87_0_1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g3526378ef87_0_1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526378ef87_0_1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526378ef87_0_1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g34db99a84db_0_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6" name="Google Shape;156;g34db99a84db_0_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g34db99a84db_0_7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5" name="Google Shape;165;g34db99a84db_0_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g34db99a84db_0_7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2" name="Google Shape;172;g34db99a84db_0_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g34db99a84db_0_8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8" name="Google Shape;178;g34db99a84db_0_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g34db99a84db_0_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6" name="Google Shape;186;g34db99a84db_0_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g34db99a84db_0_8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3" name="Google Shape;193;g34db99a84db_0_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g34dff8b7c24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2" name="Google Shape;202;g34dff8b7c24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g34dff8b7c24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1" name="Google Shape;211;g34dff8b7c24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g34dff8b7c24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7" name="Google Shape;217;g34dff8b7c24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g34dff8b7c24_0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5" name="Google Shape;225;g34dff8b7c24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g34dff8b7c24_0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1" name="Google Shape;231;g34dff8b7c24_0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g34dff8b7c24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9" name="Google Shape;239;g34dff8b7c24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g34dff8b7c24_0_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5" name="Google Shape;245;g34dff8b7c24_0_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g34db99a84db_0_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1" name="Google Shape;251;g34db99a84db_0_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g34db99a84db_0_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9" name="Google Shape;259;g34db99a84db_0_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g3526378ef87_0_1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8" name="Google Shape;268;g3526378ef87_0_1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g3526378ef87_0_1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6" name="Google Shape;276;g3526378ef87_0_1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g34dff8b7c24_0_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5" name="Google Shape;285;g34dff8b7c24_0_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g34dff8b7c24_0_7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1" name="Google Shape;291;g34dff8b7c24_0_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 rot="5400000">
            <a:off x="7500300" y="505"/>
            <a:ext cx="1643700" cy="1643700"/>
          </a:xfrm>
          <a:prstGeom prst="diagStripe">
            <a:avLst>
              <a:gd fmla="val 0" name="adj"/>
            </a:avLst>
          </a:prstGeom>
          <a:solidFill>
            <a:schemeClr val="lt1">
              <a:alpha val="303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0" y="490"/>
            <a:ext cx="5153705" cy="5134399"/>
            <a:chOff x="0" y="75"/>
            <a:chExt cx="5153705" cy="5152950"/>
          </a:xfrm>
        </p:grpSpPr>
        <p:sp>
          <p:nvSpPr>
            <p:cNvPr id="12" name="Google Shape;12;p2"/>
            <p:cNvSpPr/>
            <p:nvPr/>
          </p:nvSpPr>
          <p:spPr>
            <a:xfrm rot="-5400000">
              <a:off x="455" y="-225"/>
              <a:ext cx="5152800" cy="51537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30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rot="-5400000">
              <a:off x="150" y="1145825"/>
              <a:ext cx="3996600" cy="3996900"/>
            </a:xfrm>
            <a:prstGeom prst="diagStripe">
              <a:avLst>
                <a:gd fmla="val 58774" name="adj"/>
              </a:avLst>
            </a:prstGeom>
            <a:solidFill>
              <a:schemeClr val="lt1">
                <a:alpha val="30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" name="Google Shape;14;p2"/>
            <p:cNvSpPr/>
            <p:nvPr/>
          </p:nvSpPr>
          <p:spPr>
            <a:xfrm rot="-5400000">
              <a:off x="1646" y="-75"/>
              <a:ext cx="2299800" cy="23001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 flipH="1">
              <a:off x="652821" y="590035"/>
              <a:ext cx="2300100" cy="2299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6" name="Google Shape;16;p2"/>
          <p:cNvSpPr txBox="1"/>
          <p:nvPr>
            <p:ph type="ctrTitle"/>
          </p:nvPr>
        </p:nvSpPr>
        <p:spPr>
          <a:xfrm>
            <a:off x="3537150" y="1578400"/>
            <a:ext cx="5017500" cy="15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/>
        </p:txBody>
      </p:sp>
      <p:sp>
        <p:nvSpPr>
          <p:cNvPr id="17" name="Google Shape;17;p2"/>
          <p:cNvSpPr txBox="1"/>
          <p:nvPr>
            <p:ph idx="1" type="subTitle"/>
          </p:nvPr>
        </p:nvSpPr>
        <p:spPr>
          <a:xfrm>
            <a:off x="5083950" y="3924925"/>
            <a:ext cx="3470700" cy="50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/>
        </p:txBody>
      </p:sp>
      <p:sp>
        <p:nvSpPr>
          <p:cNvPr id="18" name="Google Shape;18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oogle Shape;20;p3"/>
          <p:cNvGrpSpPr/>
          <p:nvPr/>
        </p:nvGrpSpPr>
        <p:grpSpPr>
          <a:xfrm>
            <a:off x="4406400" y="0"/>
            <a:ext cx="4737600" cy="5143065"/>
            <a:chOff x="4406400" y="0"/>
            <a:chExt cx="4737600" cy="5143065"/>
          </a:xfrm>
        </p:grpSpPr>
        <p:sp>
          <p:nvSpPr>
            <p:cNvPr id="21" name="Google Shape;21;p3"/>
            <p:cNvSpPr/>
            <p:nvPr/>
          </p:nvSpPr>
          <p:spPr>
            <a:xfrm rot="5400000">
              <a:off x="4408200" y="-1800"/>
              <a:ext cx="47340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" name="Google Shape;22;p3"/>
            <p:cNvSpPr/>
            <p:nvPr/>
          </p:nvSpPr>
          <p:spPr>
            <a:xfrm rot="5400000">
              <a:off x="4841125" y="5700"/>
              <a:ext cx="42981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" name="Google Shape;23;p3"/>
            <p:cNvSpPr/>
            <p:nvPr/>
          </p:nvSpPr>
          <p:spPr>
            <a:xfrm rot="-5400000">
              <a:off x="5618399" y="123646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" name="Google Shape;24;p3"/>
            <p:cNvSpPr/>
            <p:nvPr/>
          </p:nvSpPr>
          <p:spPr>
            <a:xfrm flipH="1">
              <a:off x="5849857" y="14439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" name="Google Shape;25;p3"/>
            <p:cNvSpPr/>
            <p:nvPr/>
          </p:nvSpPr>
          <p:spPr>
            <a:xfrm rot="-5400000">
              <a:off x="5987081" y="24694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" name="Google Shape;26;p3"/>
            <p:cNvSpPr/>
            <p:nvPr/>
          </p:nvSpPr>
          <p:spPr>
            <a:xfrm flipH="1">
              <a:off x="6222115" y="267695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" name="Google Shape;27;p3"/>
            <p:cNvSpPr/>
            <p:nvPr/>
          </p:nvSpPr>
          <p:spPr>
            <a:xfrm rot="-5400000">
              <a:off x="6675341" y="186201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" name="Google Shape;28;p3"/>
            <p:cNvSpPr/>
            <p:nvPr/>
          </p:nvSpPr>
          <p:spPr>
            <a:xfrm flipH="1">
              <a:off x="6908099" y="206950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" name="Google Shape;29;p3"/>
            <p:cNvSpPr/>
            <p:nvPr/>
          </p:nvSpPr>
          <p:spPr>
            <a:xfrm rot="-5400000">
              <a:off x="6861141" y="247781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" name="Google Shape;30;p3"/>
            <p:cNvSpPr/>
            <p:nvPr/>
          </p:nvSpPr>
          <p:spPr>
            <a:xfrm flipH="1">
              <a:off x="7965266" y="269296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" name="Google Shape;31;p3"/>
            <p:cNvSpPr/>
            <p:nvPr/>
          </p:nvSpPr>
          <p:spPr>
            <a:xfrm flipH="1">
              <a:off x="8145082" y="330875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" name="Google Shape;32;p3"/>
            <p:cNvSpPr/>
            <p:nvPr/>
          </p:nvSpPr>
          <p:spPr>
            <a:xfrm rot="-5400000">
              <a:off x="7047599" y="309501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" name="Google Shape;33;p3"/>
            <p:cNvSpPr/>
            <p:nvPr/>
          </p:nvSpPr>
          <p:spPr>
            <a:xfrm flipH="1">
              <a:off x="7276649" y="330250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" name="Google Shape;34;p3"/>
            <p:cNvSpPr/>
            <p:nvPr/>
          </p:nvSpPr>
          <p:spPr>
            <a:xfrm rot="-5400000">
              <a:off x="7227414" y="3710807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" name="Google Shape;35;p3"/>
            <p:cNvSpPr/>
            <p:nvPr/>
          </p:nvSpPr>
          <p:spPr>
            <a:xfrm flipH="1">
              <a:off x="7462448" y="391829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" name="Google Shape;36;p3"/>
            <p:cNvSpPr/>
            <p:nvPr/>
          </p:nvSpPr>
          <p:spPr>
            <a:xfrm rot="-5400000">
              <a:off x="8102491" y="371847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" name="Google Shape;37;p3"/>
            <p:cNvSpPr/>
            <p:nvPr/>
          </p:nvSpPr>
          <p:spPr>
            <a:xfrm flipH="1">
              <a:off x="8334533" y="392596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" name="Google Shape;38;p3"/>
            <p:cNvSpPr/>
            <p:nvPr/>
          </p:nvSpPr>
          <p:spPr>
            <a:xfrm rot="-5400000">
              <a:off x="8288290" y="43342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9" name="Google Shape;39;p3"/>
          <p:cNvSpPr txBox="1"/>
          <p:nvPr>
            <p:ph type="title"/>
          </p:nvPr>
        </p:nvSpPr>
        <p:spPr>
          <a:xfrm>
            <a:off x="823850" y="2053000"/>
            <a:ext cx="4587000" cy="114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0" name="Google Shape;40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" name="Google Shape;42;p4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43" name="Google Shape;43;p4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" name="Google Shape;44;p4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5" name="Google Shape;45;p4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6" name="Google Shape;46;p4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47" name="Google Shape;47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9" name="Google Shape;49;p5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50" name="Google Shape;50;p5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" name="Google Shape;51;p5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2" name="Google Shape;52;p5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53" name="Google Shape;53;p5"/>
          <p:cNvSpPr txBox="1"/>
          <p:nvPr>
            <p:ph idx="1" type="body"/>
          </p:nvPr>
        </p:nvSpPr>
        <p:spPr>
          <a:xfrm>
            <a:off x="1297500" y="1567550"/>
            <a:ext cx="34032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4" name="Google Shape;54;p5"/>
          <p:cNvSpPr txBox="1"/>
          <p:nvPr>
            <p:ph idx="2" type="body"/>
          </p:nvPr>
        </p:nvSpPr>
        <p:spPr>
          <a:xfrm>
            <a:off x="4933221" y="1567550"/>
            <a:ext cx="34032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5" name="Google Shape;55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7" name="Google Shape;57;p6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58" name="Google Shape;58;p6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" name="Google Shape;59;p6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0" name="Google Shape;60;p6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61" name="Google Shape;61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3" name="Google Shape;63;p7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64" name="Google Shape;64;p7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" name="Google Shape;65;p7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6" name="Google Shape;66;p7"/>
          <p:cNvSpPr txBox="1"/>
          <p:nvPr>
            <p:ph type="title"/>
          </p:nvPr>
        </p:nvSpPr>
        <p:spPr>
          <a:xfrm>
            <a:off x="1297500" y="393750"/>
            <a:ext cx="3798900" cy="149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67" name="Google Shape;67;p7"/>
          <p:cNvSpPr txBox="1"/>
          <p:nvPr>
            <p:ph idx="1" type="body"/>
          </p:nvPr>
        </p:nvSpPr>
        <p:spPr>
          <a:xfrm>
            <a:off x="1297500" y="1972550"/>
            <a:ext cx="3798900" cy="241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8" name="Google Shape;68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0" name="Google Shape;70;p8"/>
          <p:cNvGrpSpPr/>
          <p:nvPr/>
        </p:nvGrpSpPr>
        <p:grpSpPr>
          <a:xfrm>
            <a:off x="4406400" y="0"/>
            <a:ext cx="4737600" cy="5143500"/>
            <a:chOff x="4406400" y="0"/>
            <a:chExt cx="4737600" cy="5143500"/>
          </a:xfrm>
        </p:grpSpPr>
        <p:sp>
          <p:nvSpPr>
            <p:cNvPr id="71" name="Google Shape;71;p8"/>
            <p:cNvSpPr/>
            <p:nvPr/>
          </p:nvSpPr>
          <p:spPr>
            <a:xfrm rot="5400000">
              <a:off x="4407900" y="-1500"/>
              <a:ext cx="47346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" name="Google Shape;72;p8"/>
            <p:cNvSpPr/>
            <p:nvPr/>
          </p:nvSpPr>
          <p:spPr>
            <a:xfrm rot="5400000">
              <a:off x="4840825" y="6000"/>
              <a:ext cx="42987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" name="Google Shape;73;p8"/>
            <p:cNvSpPr/>
            <p:nvPr/>
          </p:nvSpPr>
          <p:spPr>
            <a:xfrm rot="-5400000">
              <a:off x="5618399" y="123664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" name="Google Shape;74;p8"/>
            <p:cNvSpPr/>
            <p:nvPr/>
          </p:nvSpPr>
          <p:spPr>
            <a:xfrm flipH="1">
              <a:off x="5849857" y="144407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" name="Google Shape;75;p8"/>
            <p:cNvSpPr/>
            <p:nvPr/>
          </p:nvSpPr>
          <p:spPr>
            <a:xfrm rot="-5400000">
              <a:off x="5987081" y="246974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" name="Google Shape;76;p8"/>
            <p:cNvSpPr/>
            <p:nvPr/>
          </p:nvSpPr>
          <p:spPr>
            <a:xfrm flipH="1">
              <a:off x="6222115" y="267717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" name="Google Shape;77;p8"/>
            <p:cNvSpPr/>
            <p:nvPr/>
          </p:nvSpPr>
          <p:spPr>
            <a:xfrm rot="-5400000">
              <a:off x="6675341" y="186224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" name="Google Shape;78;p8"/>
            <p:cNvSpPr/>
            <p:nvPr/>
          </p:nvSpPr>
          <p:spPr>
            <a:xfrm flipH="1">
              <a:off x="6908099" y="206968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" name="Google Shape;79;p8"/>
            <p:cNvSpPr/>
            <p:nvPr/>
          </p:nvSpPr>
          <p:spPr>
            <a:xfrm rot="-5400000">
              <a:off x="6861141" y="247808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" name="Google Shape;80;p8"/>
            <p:cNvSpPr/>
            <p:nvPr/>
          </p:nvSpPr>
          <p:spPr>
            <a:xfrm flipH="1">
              <a:off x="7965266" y="269319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" name="Google Shape;81;p8"/>
            <p:cNvSpPr/>
            <p:nvPr/>
          </p:nvSpPr>
          <p:spPr>
            <a:xfrm flipH="1">
              <a:off x="8145082" y="330903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" name="Google Shape;82;p8"/>
            <p:cNvSpPr/>
            <p:nvPr/>
          </p:nvSpPr>
          <p:spPr>
            <a:xfrm rot="-5400000">
              <a:off x="7047599" y="309534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" name="Google Shape;83;p8"/>
            <p:cNvSpPr/>
            <p:nvPr/>
          </p:nvSpPr>
          <p:spPr>
            <a:xfrm flipH="1">
              <a:off x="7276649" y="330278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" name="Google Shape;84;p8"/>
            <p:cNvSpPr/>
            <p:nvPr/>
          </p:nvSpPr>
          <p:spPr>
            <a:xfrm rot="-5400000">
              <a:off x="7227414" y="37111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" name="Google Shape;85;p8"/>
            <p:cNvSpPr/>
            <p:nvPr/>
          </p:nvSpPr>
          <p:spPr>
            <a:xfrm flipH="1">
              <a:off x="7462448" y="391862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" name="Google Shape;86;p8"/>
            <p:cNvSpPr/>
            <p:nvPr/>
          </p:nvSpPr>
          <p:spPr>
            <a:xfrm rot="-5400000">
              <a:off x="8102491" y="37188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" name="Google Shape;87;p8"/>
            <p:cNvSpPr/>
            <p:nvPr/>
          </p:nvSpPr>
          <p:spPr>
            <a:xfrm flipH="1">
              <a:off x="8334533" y="392629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" name="Google Shape;88;p8"/>
            <p:cNvSpPr/>
            <p:nvPr/>
          </p:nvSpPr>
          <p:spPr>
            <a:xfrm rot="-5400000">
              <a:off x="8288290" y="433470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9" name="Google Shape;89;p8"/>
          <p:cNvSpPr txBox="1"/>
          <p:nvPr>
            <p:ph type="title"/>
          </p:nvPr>
        </p:nvSpPr>
        <p:spPr>
          <a:xfrm>
            <a:off x="823850" y="866775"/>
            <a:ext cx="4587000" cy="3521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0" name="Google Shape;90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2" name="Google Shape;92;p9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93" name="Google Shape;93;p9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" name="Google Shape;94;p9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5" name="Google Shape;95;p9"/>
          <p:cNvSpPr txBox="1"/>
          <p:nvPr>
            <p:ph type="title"/>
          </p:nvPr>
        </p:nvSpPr>
        <p:spPr>
          <a:xfrm>
            <a:off x="1297500" y="1658325"/>
            <a:ext cx="3036300" cy="175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96" name="Google Shape;96;p9"/>
          <p:cNvSpPr txBox="1"/>
          <p:nvPr>
            <p:ph idx="1" type="subTitle"/>
          </p:nvPr>
        </p:nvSpPr>
        <p:spPr>
          <a:xfrm>
            <a:off x="1297500" y="3538000"/>
            <a:ext cx="3036300" cy="50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/>
        </p:txBody>
      </p:sp>
      <p:sp>
        <p:nvSpPr>
          <p:cNvPr id="97" name="Google Shape;97;p9"/>
          <p:cNvSpPr txBox="1"/>
          <p:nvPr>
            <p:ph idx="2" type="body"/>
          </p:nvPr>
        </p:nvSpPr>
        <p:spPr>
          <a:xfrm>
            <a:off x="4648200" y="1696600"/>
            <a:ext cx="3676800" cy="234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98" name="Google Shape;98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" name="Google Shape;100;p10"/>
          <p:cNvGrpSpPr/>
          <p:nvPr/>
        </p:nvGrpSpPr>
        <p:grpSpPr>
          <a:xfrm>
            <a:off x="0" y="4128572"/>
            <a:ext cx="698925" cy="684657"/>
            <a:chOff x="0" y="3785672"/>
            <a:chExt cx="698925" cy="684657"/>
          </a:xfrm>
        </p:grpSpPr>
        <p:sp>
          <p:nvSpPr>
            <p:cNvPr id="101" name="Google Shape;101;p10"/>
            <p:cNvSpPr/>
            <p:nvPr/>
          </p:nvSpPr>
          <p:spPr>
            <a:xfrm rot="-5400000">
              <a:off x="0" y="3785672"/>
              <a:ext cx="544800" cy="544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962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" name="Google Shape;102;p10"/>
            <p:cNvSpPr/>
            <p:nvPr/>
          </p:nvSpPr>
          <p:spPr>
            <a:xfrm flipH="1">
              <a:off x="154125" y="3925529"/>
              <a:ext cx="544800" cy="544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962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3" name="Google Shape;103;p10"/>
          <p:cNvSpPr txBox="1"/>
          <p:nvPr>
            <p:ph idx="1" type="body"/>
          </p:nvPr>
        </p:nvSpPr>
        <p:spPr>
          <a:xfrm>
            <a:off x="812725" y="4305375"/>
            <a:ext cx="6936000" cy="523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104" name="Google Shape;104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6" name="Google Shape;106;p11"/>
          <p:cNvGrpSpPr/>
          <p:nvPr/>
        </p:nvGrpSpPr>
        <p:grpSpPr>
          <a:xfrm>
            <a:off x="4406400" y="0"/>
            <a:ext cx="4737600" cy="5143065"/>
            <a:chOff x="4406400" y="0"/>
            <a:chExt cx="4737600" cy="5143065"/>
          </a:xfrm>
        </p:grpSpPr>
        <p:sp>
          <p:nvSpPr>
            <p:cNvPr id="107" name="Google Shape;107;p11"/>
            <p:cNvSpPr/>
            <p:nvPr/>
          </p:nvSpPr>
          <p:spPr>
            <a:xfrm rot="5400000">
              <a:off x="4408200" y="-1800"/>
              <a:ext cx="47340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" name="Google Shape;108;p11"/>
            <p:cNvSpPr/>
            <p:nvPr/>
          </p:nvSpPr>
          <p:spPr>
            <a:xfrm rot="5400000">
              <a:off x="4841125" y="5700"/>
              <a:ext cx="42981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" name="Google Shape;109;p11"/>
            <p:cNvSpPr/>
            <p:nvPr/>
          </p:nvSpPr>
          <p:spPr>
            <a:xfrm rot="-5400000">
              <a:off x="5618399" y="123646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" name="Google Shape;110;p11"/>
            <p:cNvSpPr/>
            <p:nvPr/>
          </p:nvSpPr>
          <p:spPr>
            <a:xfrm flipH="1">
              <a:off x="5849857" y="14439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" name="Google Shape;111;p11"/>
            <p:cNvSpPr/>
            <p:nvPr/>
          </p:nvSpPr>
          <p:spPr>
            <a:xfrm rot="-5400000">
              <a:off x="5987081" y="24694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" name="Google Shape;112;p11"/>
            <p:cNvSpPr/>
            <p:nvPr/>
          </p:nvSpPr>
          <p:spPr>
            <a:xfrm flipH="1">
              <a:off x="6222115" y="267695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" name="Google Shape;113;p11"/>
            <p:cNvSpPr/>
            <p:nvPr/>
          </p:nvSpPr>
          <p:spPr>
            <a:xfrm rot="-5400000">
              <a:off x="6675341" y="186201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" name="Google Shape;114;p11"/>
            <p:cNvSpPr/>
            <p:nvPr/>
          </p:nvSpPr>
          <p:spPr>
            <a:xfrm flipH="1">
              <a:off x="6908099" y="206950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" name="Google Shape;115;p11"/>
            <p:cNvSpPr/>
            <p:nvPr/>
          </p:nvSpPr>
          <p:spPr>
            <a:xfrm rot="-5400000">
              <a:off x="6861141" y="247781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" name="Google Shape;116;p11"/>
            <p:cNvSpPr/>
            <p:nvPr/>
          </p:nvSpPr>
          <p:spPr>
            <a:xfrm flipH="1">
              <a:off x="7965266" y="269296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" name="Google Shape;117;p11"/>
            <p:cNvSpPr/>
            <p:nvPr/>
          </p:nvSpPr>
          <p:spPr>
            <a:xfrm flipH="1">
              <a:off x="8145082" y="330875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" name="Google Shape;118;p11"/>
            <p:cNvSpPr/>
            <p:nvPr/>
          </p:nvSpPr>
          <p:spPr>
            <a:xfrm rot="-5400000">
              <a:off x="7047599" y="309501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" name="Google Shape;119;p11"/>
            <p:cNvSpPr/>
            <p:nvPr/>
          </p:nvSpPr>
          <p:spPr>
            <a:xfrm flipH="1">
              <a:off x="7276649" y="330250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" name="Google Shape;120;p11"/>
            <p:cNvSpPr/>
            <p:nvPr/>
          </p:nvSpPr>
          <p:spPr>
            <a:xfrm rot="-5400000">
              <a:off x="7227414" y="3710807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" name="Google Shape;121;p11"/>
            <p:cNvSpPr/>
            <p:nvPr/>
          </p:nvSpPr>
          <p:spPr>
            <a:xfrm flipH="1">
              <a:off x="7462448" y="391829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" name="Google Shape;122;p11"/>
            <p:cNvSpPr/>
            <p:nvPr/>
          </p:nvSpPr>
          <p:spPr>
            <a:xfrm rot="-5400000">
              <a:off x="8102491" y="371847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" name="Google Shape;123;p11"/>
            <p:cNvSpPr/>
            <p:nvPr/>
          </p:nvSpPr>
          <p:spPr>
            <a:xfrm flipH="1">
              <a:off x="8334533" y="392596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" name="Google Shape;124;p11"/>
            <p:cNvSpPr/>
            <p:nvPr/>
          </p:nvSpPr>
          <p:spPr>
            <a:xfrm rot="-5400000">
              <a:off x="8288290" y="43342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25" name="Google Shape;125;p11"/>
          <p:cNvSpPr txBox="1"/>
          <p:nvPr>
            <p:ph hasCustomPrompt="1" type="title"/>
          </p:nvPr>
        </p:nvSpPr>
        <p:spPr>
          <a:xfrm>
            <a:off x="823850" y="1284675"/>
            <a:ext cx="47760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1pPr>
            <a:lvl2pPr lvl="1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2pPr>
            <a:lvl3pPr lvl="2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3pPr>
            <a:lvl4pPr lvl="3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4pPr>
            <a:lvl5pPr lvl="4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5pPr>
            <a:lvl6pPr lvl="5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6pPr>
            <a:lvl7pPr lvl="6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7pPr>
            <a:lvl8pPr lvl="7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8pPr>
            <a:lvl9pPr lvl="8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9pPr>
          </a:lstStyle>
          <a:p>
            <a:r>
              <a:t>xx%</a:t>
            </a:r>
          </a:p>
        </p:txBody>
      </p:sp>
      <p:sp>
        <p:nvSpPr>
          <p:cNvPr id="126" name="Google Shape;126;p11"/>
          <p:cNvSpPr txBox="1"/>
          <p:nvPr>
            <p:ph idx="1" type="body"/>
          </p:nvPr>
        </p:nvSpPr>
        <p:spPr>
          <a:xfrm>
            <a:off x="823850" y="2643124"/>
            <a:ext cx="4776000" cy="121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27" name="Google Shape;12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focus">
    <p:bg>
      <p:bgPr>
        <a:solidFill>
          <a:schemeClr val="dk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Lato"/>
              <a:buChar char="●"/>
              <a:defRPr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●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●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6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8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5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7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4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3"/>
          <p:cNvSpPr txBox="1"/>
          <p:nvPr>
            <p:ph type="ctrTitle"/>
          </p:nvPr>
        </p:nvSpPr>
        <p:spPr>
          <a:xfrm>
            <a:off x="3537150" y="1578400"/>
            <a:ext cx="5017500" cy="15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GR5293 Project 2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55"/>
              <a:t>Mortgage Default Prediction Using Machine Learning</a:t>
            </a:r>
            <a:endParaRPr sz="1255"/>
          </a:p>
        </p:txBody>
      </p:sp>
      <p:sp>
        <p:nvSpPr>
          <p:cNvPr id="135" name="Google Shape;135;p13"/>
          <p:cNvSpPr txBox="1"/>
          <p:nvPr>
            <p:ph idx="1" type="subTitle"/>
          </p:nvPr>
        </p:nvSpPr>
        <p:spPr>
          <a:xfrm>
            <a:off x="5083950" y="3924925"/>
            <a:ext cx="3470700" cy="50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By John Feng, Shenhong Wu, Hailin Liu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14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Data Summary &amp; Descriptive Statistics</a:t>
            </a:r>
            <a:endParaRPr/>
          </a:p>
        </p:txBody>
      </p:sp>
      <p:sp>
        <p:nvSpPr>
          <p:cNvPr id="141" name="Google Shape;141;p14"/>
          <p:cNvSpPr txBox="1"/>
          <p:nvPr>
            <p:ph idx="1" type="body"/>
          </p:nvPr>
        </p:nvSpPr>
        <p:spPr>
          <a:xfrm>
            <a:off x="813875" y="956425"/>
            <a:ext cx="3655800" cy="186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45720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50"/>
              <a:t>Dataset Overview</a:t>
            </a:r>
            <a:endParaRPr b="1" sz="1050"/>
          </a:p>
          <a:p>
            <a:pPr indent="-123825" lvl="0" marL="457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050"/>
              <a:buChar char="●"/>
            </a:pPr>
            <a:r>
              <a:rPr lang="en" sz="1050"/>
              <a:t>Total Observations: 1,048,570 rows</a:t>
            </a:r>
            <a:endParaRPr sz="1050"/>
          </a:p>
          <a:p>
            <a:pPr indent="-123825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50"/>
              <a:buChar char="●"/>
            </a:pPr>
            <a:r>
              <a:rPr lang="en" sz="1050"/>
              <a:t>Total Columns/Variables: 13</a:t>
            </a:r>
            <a:endParaRPr sz="1050"/>
          </a:p>
          <a:p>
            <a:pPr indent="-123825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50"/>
              <a:buChar char="●"/>
            </a:pPr>
            <a:r>
              <a:rPr lang="en" sz="1050"/>
              <a:t>Time Period: 2000 (Train),  2001 (Test)</a:t>
            </a:r>
            <a:endParaRPr sz="1050"/>
          </a:p>
          <a:p>
            <a:pPr indent="-123825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50"/>
              <a:buChar char="●"/>
            </a:pPr>
            <a:r>
              <a:rPr lang="en" sz="1050"/>
              <a:t>Key column with missing values: LAST_VAL</a:t>
            </a:r>
            <a:endParaRPr sz="1050"/>
          </a:p>
          <a:p>
            <a:pPr indent="0" lvl="0" marL="457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p14"/>
          <p:cNvSpPr txBox="1"/>
          <p:nvPr/>
        </p:nvSpPr>
        <p:spPr>
          <a:xfrm>
            <a:off x="4372650" y="915900"/>
            <a:ext cx="4266000" cy="401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Variables</a:t>
            </a:r>
            <a:endParaRPr b="1" sz="10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45720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-1206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●"/>
            </a:pPr>
            <a:r>
              <a:rPr b="1" lang="en"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ORIG_AMT:</a:t>
            </a:r>
            <a:r>
              <a:rPr lang="en"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 Original loan amount</a:t>
            </a:r>
            <a:r>
              <a:rPr lang="en"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 (in thousands) </a:t>
            </a:r>
            <a:r>
              <a:rPr lang="en"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– the amount initially borrowed at origination.</a:t>
            </a:r>
            <a:endParaRPr sz="10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-1206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●"/>
            </a:pPr>
            <a:r>
              <a:rPr b="1" lang="en"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ORIG_TRM:</a:t>
            </a:r>
            <a:r>
              <a:rPr lang="en"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 Original loan term (in months) – most commonly 360 months (30 years).</a:t>
            </a:r>
            <a:endParaRPr sz="10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-1206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●"/>
            </a:pPr>
            <a:r>
              <a:rPr b="1" lang="en"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NUM_BO:</a:t>
            </a:r>
            <a:r>
              <a:rPr lang="en"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 Number of borrowers – usually 1 or 2 per mortgage.</a:t>
            </a:r>
            <a:endParaRPr sz="10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-1206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●"/>
            </a:pPr>
            <a:r>
              <a:rPr b="1" lang="en"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DTI:</a:t>
            </a:r>
            <a:r>
              <a:rPr lang="en"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 Debt-to-Income ratio – borrower’s monthly debt payments divided by gross income (%).</a:t>
            </a:r>
            <a:endParaRPr sz="10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-1206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●"/>
            </a:pPr>
            <a:r>
              <a:rPr b="1" lang="en"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PROP_TYP:</a:t>
            </a:r>
            <a:r>
              <a:rPr lang="en"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 Property type – categorical variable (e.g., single-family, condo, etc.).</a:t>
            </a:r>
            <a:endParaRPr sz="10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-1206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●"/>
            </a:pPr>
            <a:r>
              <a:rPr b="1" lang="en"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reperformance_flag:</a:t>
            </a:r>
            <a:r>
              <a:rPr lang="en"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 Indicates whether a previously defaulted loan has returned to performing status.</a:t>
            </a:r>
            <a:endParaRPr sz="10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-1206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●"/>
            </a:pPr>
            <a:r>
              <a:rPr b="1" lang="en"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Loan.Age:</a:t>
            </a:r>
            <a:r>
              <a:rPr lang="en"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 Age of the loan in months – how long the loan has been active.</a:t>
            </a:r>
            <a:endParaRPr sz="10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-1206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●"/>
            </a:pPr>
            <a:r>
              <a:rPr b="1" lang="en"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VinYr:</a:t>
            </a:r>
            <a:r>
              <a:rPr lang="en"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 Vintage year – year the loan was issued (2000 or 2001, used for train/test split).</a:t>
            </a:r>
            <a:endParaRPr sz="10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-1206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●"/>
            </a:pPr>
            <a:r>
              <a:rPr b="1" lang="en"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FicoBkt:</a:t>
            </a:r>
            <a:r>
              <a:rPr lang="en"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 FICO score bucket – credit score category of the borrower.</a:t>
            </a:r>
            <a:endParaRPr sz="10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-1206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●"/>
            </a:pPr>
            <a:r>
              <a:rPr b="1" lang="en"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LAST_VAL:</a:t>
            </a:r>
            <a:r>
              <a:rPr lang="en"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 Most recent property valuation (in thousands).</a:t>
            </a:r>
            <a:endParaRPr sz="10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-1206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●"/>
            </a:pPr>
            <a:r>
              <a:rPr b="1" lang="en"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MLTV:</a:t>
            </a:r>
            <a:r>
              <a:rPr lang="en"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 Modified Loan-to-Value ratio – balance of the loan compared to appraised property value.</a:t>
            </a:r>
            <a:endParaRPr sz="10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-1206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●"/>
            </a:pPr>
            <a:r>
              <a:rPr b="1" lang="en"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Default:</a:t>
            </a:r>
            <a:r>
              <a:rPr lang="en"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 Target variable – indicates whether the loan defaulted.</a:t>
            </a:r>
            <a:endParaRPr sz="10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-1206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●"/>
            </a:pPr>
            <a:r>
              <a:rPr b="1" lang="en"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S</a:t>
            </a:r>
            <a:r>
              <a:rPr b="1" lang="en"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TATE:</a:t>
            </a:r>
            <a:r>
              <a:rPr lang="en"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"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U.S. state abbreviation of the property (excluded from modeling per instructions).</a:t>
            </a:r>
            <a:endParaRPr sz="10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43" name="Google Shape;143;p14"/>
          <p:cNvSpPr txBox="1"/>
          <p:nvPr/>
        </p:nvSpPr>
        <p:spPr>
          <a:xfrm>
            <a:off x="854175" y="1970100"/>
            <a:ext cx="3297000" cy="201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Key Insights</a:t>
            </a:r>
            <a:endParaRPr b="1" sz="10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-1206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●"/>
            </a:pPr>
            <a:r>
              <a:rPr lang="en"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Loan Amounts (ORIG_AMT) mostly range between $86k–$175k</a:t>
            </a:r>
            <a:endParaRPr sz="10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-1206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●"/>
            </a:pPr>
            <a:r>
              <a:rPr lang="en"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Loan Term (ORIG_TRM) is typically 30 years (360 months)</a:t>
            </a:r>
            <a:endParaRPr sz="10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-1206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●"/>
            </a:pPr>
            <a:r>
              <a:rPr lang="en"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Borrowers per loan (NUM_BO) are usually 1–2</a:t>
            </a:r>
            <a:endParaRPr sz="10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-1206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●"/>
            </a:pPr>
            <a:r>
              <a:rPr lang="en"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Debt-to-Income Ratio (DTI) clusters around 35%</a:t>
            </a:r>
            <a:endParaRPr sz="10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-1206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●"/>
            </a:pPr>
            <a:r>
              <a:rPr lang="en"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Very few defaulted in the overall dataset</a:t>
            </a:r>
            <a:endParaRPr sz="10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144" name="Google Shape;144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89150" y="3730425"/>
            <a:ext cx="3105225" cy="1093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5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Model Evaluation Metrics in Credit Risk</a:t>
            </a:r>
            <a:endParaRPr/>
          </a:p>
        </p:txBody>
      </p:sp>
      <p:sp>
        <p:nvSpPr>
          <p:cNvPr id="150" name="Google Shape;150;p15"/>
          <p:cNvSpPr txBox="1"/>
          <p:nvPr>
            <p:ph idx="1" type="body"/>
          </p:nvPr>
        </p:nvSpPr>
        <p:spPr>
          <a:xfrm>
            <a:off x="1297500" y="1015425"/>
            <a:ext cx="2376900" cy="44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Metric Definitions &amp; Formulas</a:t>
            </a:r>
            <a:endParaRPr/>
          </a:p>
        </p:txBody>
      </p:sp>
      <p:pic>
        <p:nvPicPr>
          <p:cNvPr id="151" name="Google Shape;151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56250" y="1588762"/>
            <a:ext cx="3720825" cy="1900125"/>
          </a:xfrm>
          <a:prstGeom prst="rect">
            <a:avLst/>
          </a:prstGeom>
          <a:noFill/>
          <a:ln>
            <a:noFill/>
          </a:ln>
        </p:spPr>
      </p:pic>
      <p:sp>
        <p:nvSpPr>
          <p:cNvPr id="152" name="Google Shape;152;p15"/>
          <p:cNvSpPr txBox="1"/>
          <p:nvPr/>
        </p:nvSpPr>
        <p:spPr>
          <a:xfrm>
            <a:off x="1203250" y="3613725"/>
            <a:ext cx="3921900" cy="102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TP = True Positives (Predicted default, actually d</a:t>
            </a:r>
            <a:r>
              <a:rPr lang="en"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e</a:t>
            </a:r>
            <a:r>
              <a:rPr lang="en"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faulted)</a:t>
            </a:r>
            <a:endParaRPr sz="10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TN = True Negatives (Predicted no default, actually paid)</a:t>
            </a:r>
            <a:endParaRPr sz="10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FP = False Positives (Predicted default, actually paid)</a:t>
            </a:r>
            <a:endParaRPr sz="10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FN = False Negatives (Predicted no default, actually defaulted)</a:t>
            </a:r>
            <a:endParaRPr sz="10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53" name="Google Shape;153;p15"/>
          <p:cNvSpPr txBox="1"/>
          <p:nvPr/>
        </p:nvSpPr>
        <p:spPr>
          <a:xfrm>
            <a:off x="5393325" y="1403475"/>
            <a:ext cx="3283500" cy="259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In the Mortgage Lending Context:</a:t>
            </a:r>
            <a:endParaRPr b="1" sz="10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High Recall → We catch more true defaulters, reducing lending risk, but might reject some good borrowers.</a:t>
            </a:r>
            <a:endParaRPr sz="10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High Precision → Our default predictions are trustworthy, fewer good customers wrongly flagged.</a:t>
            </a:r>
            <a:endParaRPr sz="10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High Specificity → We retain creditworthy borrowers, minimizing lost revenue.</a:t>
            </a:r>
            <a:endParaRPr sz="10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F1 Score → Helps find the best balance between catching risk and keeping profitability.</a:t>
            </a:r>
            <a:endParaRPr sz="10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16"/>
          <p:cNvSpPr txBox="1"/>
          <p:nvPr>
            <p:ph type="title"/>
          </p:nvPr>
        </p:nvSpPr>
        <p:spPr>
          <a:xfrm>
            <a:off x="1108950" y="393750"/>
            <a:ext cx="72276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SVM - Model Description &amp; Hyperparameter Tuning</a:t>
            </a:r>
            <a:endParaRPr/>
          </a:p>
        </p:txBody>
      </p:sp>
      <p:sp>
        <p:nvSpPr>
          <p:cNvPr id="159" name="Google Shape;159;p16"/>
          <p:cNvSpPr txBox="1"/>
          <p:nvPr>
            <p:ph idx="1" type="body"/>
          </p:nvPr>
        </p:nvSpPr>
        <p:spPr>
          <a:xfrm>
            <a:off x="1042125" y="997050"/>
            <a:ext cx="4833300" cy="286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Tuning Strategy:</a:t>
            </a:r>
            <a:endParaRPr b="1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A subset of 50,000 samples was selected for faster hyperparameter tuning.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Goal: Maximize Recall on the default (positive) class (Default = 0).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Scoring metric: recall_score(pos_label=0)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RandomizedSearchCV was used with 3-fold StratifiedKFold cross-validation.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160" name="Google Shape;160;p16"/>
          <p:cNvSpPr txBox="1"/>
          <p:nvPr/>
        </p:nvSpPr>
        <p:spPr>
          <a:xfrm>
            <a:off x="5977500" y="997050"/>
            <a:ext cx="2358900" cy="314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Best Parameters:</a:t>
            </a:r>
            <a:endParaRPr b="1" sz="13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-196850" lvl="0" marL="2286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Lato"/>
              <a:buChar char="●"/>
            </a:pPr>
            <a:r>
              <a:rPr lang="en"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C = 0.2</a:t>
            </a:r>
            <a:endParaRPr sz="13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-196850" lvl="0" marL="2286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Lato"/>
              <a:buChar char="●"/>
            </a:pPr>
            <a:r>
              <a:rPr lang="en"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kernel = 'rbf'</a:t>
            </a:r>
            <a:endParaRPr sz="13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-196850" lvl="0" marL="2286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Lato"/>
              <a:buChar char="●"/>
            </a:pPr>
            <a:r>
              <a:rPr lang="en"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gamma = 0.01</a:t>
            </a:r>
            <a:endParaRPr sz="13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-196850" lvl="0" marL="2286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Lato"/>
              <a:buChar char="●"/>
            </a:pPr>
            <a:r>
              <a:rPr lang="en"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class_weight = {-1: 1, 0: 50}</a:t>
            </a:r>
            <a:endParaRPr sz="13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161" name="Google Shape;161;p16" title="svm_threshold_tabl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87375" y="3507200"/>
            <a:ext cx="5425526" cy="1507400"/>
          </a:xfrm>
          <a:prstGeom prst="rect">
            <a:avLst/>
          </a:prstGeom>
          <a:noFill/>
          <a:ln>
            <a:noFill/>
          </a:ln>
        </p:spPr>
      </p:pic>
      <p:sp>
        <p:nvSpPr>
          <p:cNvPr id="162" name="Google Shape;162;p16"/>
          <p:cNvSpPr txBox="1"/>
          <p:nvPr/>
        </p:nvSpPr>
        <p:spPr>
          <a:xfrm>
            <a:off x="3212525" y="3178525"/>
            <a:ext cx="3501900" cy="4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Evaluation Results on Full Test Set</a:t>
            </a:r>
            <a:endParaRPr b="1" sz="13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17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SVM - Insights &amp; Takeaways</a:t>
            </a:r>
            <a:endParaRPr/>
          </a:p>
        </p:txBody>
      </p:sp>
      <p:sp>
        <p:nvSpPr>
          <p:cNvPr id="168" name="Google Shape;168;p17"/>
          <p:cNvSpPr txBox="1"/>
          <p:nvPr>
            <p:ph idx="1" type="body"/>
          </p:nvPr>
        </p:nvSpPr>
        <p:spPr>
          <a:xfrm>
            <a:off x="1297500" y="11161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Performance Observations</a:t>
            </a:r>
            <a:endParaRPr b="1"/>
          </a:p>
          <a:p>
            <a:pPr indent="-311150" lvl="0" marL="457200" rtl="0" algn="l">
              <a:spcBef>
                <a:spcPts val="120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Threshold = 0.005 achieved the highest Recall = 0.9820, but Precision = 0.0666 and Specificity were very low.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Tradeoff: As threshold increases, Precision and Specificity improve, but Recall drops.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Best F1 Score observed at Threshold = 0.05: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"/>
              <a:t>F1 = 0.2940, Precision = 0.1762, Recall = 0.8866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169" name="Google Shape;169;p17"/>
          <p:cNvSpPr txBox="1"/>
          <p:nvPr/>
        </p:nvSpPr>
        <p:spPr>
          <a:xfrm>
            <a:off x="1297500" y="2862350"/>
            <a:ext cx="6935700" cy="17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Why Focus on Recall?</a:t>
            </a:r>
            <a:endParaRPr b="1" sz="13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Lato"/>
              <a:buChar char="●"/>
            </a:pPr>
            <a:r>
              <a:rPr lang="en"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In default prediction, missing a true defaulter is more costly than mistakenly flagging a non-defaulter.</a:t>
            </a:r>
            <a:endParaRPr sz="13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Lato"/>
              <a:buChar char="●"/>
            </a:pPr>
            <a:r>
              <a:rPr lang="en"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SVM with low threshold settings effectively identifies most defaulters (TPs), though with more false positives (FPs).</a:t>
            </a:r>
            <a:endParaRPr sz="13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Limitation:</a:t>
            </a:r>
            <a:endParaRPr b="1" sz="13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Lato"/>
              <a:buChar char="●"/>
            </a:pPr>
            <a:r>
              <a:rPr lang="en"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Extremely high recall comes at the cost of too many false positives, leading to operational inefficiencies.</a:t>
            </a:r>
            <a:endParaRPr sz="13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18"/>
          <p:cNvSpPr txBox="1"/>
          <p:nvPr>
            <p:ph type="title"/>
          </p:nvPr>
        </p:nvSpPr>
        <p:spPr>
          <a:xfrm>
            <a:off x="1066475" y="466700"/>
            <a:ext cx="74964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Random Forest - Hyperparameter Tuning &amp; Strategy</a:t>
            </a:r>
            <a:endParaRPr/>
          </a:p>
        </p:txBody>
      </p:sp>
      <p:sp>
        <p:nvSpPr>
          <p:cNvPr id="175" name="Google Shape;175;p18"/>
          <p:cNvSpPr txBox="1"/>
          <p:nvPr>
            <p:ph idx="1" type="body"/>
          </p:nvPr>
        </p:nvSpPr>
        <p:spPr>
          <a:xfrm>
            <a:off x="1149000" y="1088575"/>
            <a:ext cx="7995000" cy="390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Algorithm: Random Forest Classifier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Goal: Maximize Recall (identify as many defaults as possible)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Hyperparameters:</a:t>
            </a:r>
            <a:endParaRPr/>
          </a:p>
          <a:p>
            <a:pPr indent="-304958" lvl="0" marL="457200" rtl="0" algn="l">
              <a:spcBef>
                <a:spcPts val="120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n_estimators: 2000</a:t>
            </a:r>
            <a:endParaRPr/>
          </a:p>
          <a:p>
            <a:pPr indent="-304958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max_depth: None</a:t>
            </a:r>
            <a:endParaRPr/>
          </a:p>
          <a:p>
            <a:pPr indent="-304958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min_samples_leaf: 1</a:t>
            </a:r>
            <a:endParaRPr/>
          </a:p>
          <a:p>
            <a:pPr indent="-304958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min_samples_split: 2</a:t>
            </a:r>
            <a:endParaRPr/>
          </a:p>
          <a:p>
            <a:pPr indent="-304958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max_features: 'sqrt'</a:t>
            </a:r>
            <a:endParaRPr/>
          </a:p>
          <a:p>
            <a:pPr indent="-304958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class_weight: {-1: 1, 0: 200}  (heavily penalize missing defaults)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Threshold: 0.005 (lowered to increase sensitivity)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Why This Strategy?</a:t>
            </a:r>
            <a:endParaRPr/>
          </a:p>
          <a:p>
            <a:pPr indent="-304958" lvl="0" marL="457200" rtl="0" algn="l">
              <a:spcBef>
                <a:spcPts val="120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Because defaulting borrowers are rare but costly, our priority is to maximize recall at the cost of precision.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19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Random Forest - Evaluation &amp; Insights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" name="Google Shape;181;p19"/>
          <p:cNvSpPr txBox="1"/>
          <p:nvPr>
            <p:ph idx="1" type="body"/>
          </p:nvPr>
        </p:nvSpPr>
        <p:spPr>
          <a:xfrm>
            <a:off x="660325" y="943125"/>
            <a:ext cx="4401900" cy="487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Strength:</a:t>
            </a:r>
            <a:endParaRPr/>
          </a:p>
          <a:p>
            <a:pPr indent="-304958" lvl="0" marL="457200" rtl="0" algn="l">
              <a:spcBef>
                <a:spcPts val="120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Excellent at identifying borrowers likely to default.</a:t>
            </a:r>
            <a:endParaRPr/>
          </a:p>
          <a:p>
            <a:pPr indent="-304958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Achieves professor’s recall target (above 0.90).</a:t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Tradeoff:</a:t>
            </a:r>
            <a:endParaRPr/>
          </a:p>
          <a:p>
            <a:pPr indent="-304958" lvl="0" marL="457200" rtl="0" algn="l">
              <a:spcBef>
                <a:spcPts val="120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Model has a high false positive rate (low precision), labeling many non-defaulters as risky.</a:t>
            </a:r>
            <a:endParaRPr/>
          </a:p>
          <a:p>
            <a:pPr indent="-304958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Specificity and precision are significantly impacted.</a:t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Justification:</a:t>
            </a:r>
            <a:endParaRPr/>
          </a:p>
          <a:p>
            <a:pPr indent="-304958" lvl="0" marL="457200" rtl="0" algn="l">
              <a:spcBef>
                <a:spcPts val="120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In a mortgage securitization pool, missing a default can be more costly than incorrectly flagging a safe borrower.</a:t>
            </a:r>
            <a:endParaRPr/>
          </a:p>
          <a:p>
            <a:pPr indent="-304958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This model prioritizes risk-averse predictions to minimize loss.</a:t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Next Steps:</a:t>
            </a:r>
            <a:endParaRPr/>
          </a:p>
          <a:p>
            <a:pPr indent="-304958" lvl="0" marL="457200" rtl="0" algn="l">
              <a:spcBef>
                <a:spcPts val="120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Ensemble voting or threshold optimization across models (optional).</a:t>
            </a:r>
            <a:endParaRPr/>
          </a:p>
          <a:p>
            <a:pPr indent="-304958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Incorporate cost-sensitive learning or ROI analysis for better real-world alignment.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82" name="Google Shape;182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62225" y="1596525"/>
            <a:ext cx="3923324" cy="2615549"/>
          </a:xfrm>
          <a:prstGeom prst="rect">
            <a:avLst/>
          </a:prstGeom>
          <a:noFill/>
          <a:ln>
            <a:noFill/>
          </a:ln>
        </p:spPr>
      </p:pic>
      <p:sp>
        <p:nvSpPr>
          <p:cNvPr id="183" name="Google Shape;183;p19"/>
          <p:cNvSpPr txBox="1"/>
          <p:nvPr/>
        </p:nvSpPr>
        <p:spPr>
          <a:xfrm>
            <a:off x="6100500" y="1256625"/>
            <a:ext cx="2235900" cy="33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Performance Metrics</a:t>
            </a:r>
            <a:endParaRPr sz="13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20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GBM</a:t>
            </a:r>
            <a:endParaRPr/>
          </a:p>
        </p:txBody>
      </p:sp>
      <p:sp>
        <p:nvSpPr>
          <p:cNvPr id="189" name="Google Shape;189;p20"/>
          <p:cNvSpPr txBox="1"/>
          <p:nvPr>
            <p:ph idx="1" type="body"/>
          </p:nvPr>
        </p:nvSpPr>
        <p:spPr>
          <a:xfrm>
            <a:off x="1163725" y="1032525"/>
            <a:ext cx="42012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Goal: </a:t>
            </a:r>
            <a:endParaRPr b="1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Maximize Recall to detect loan defaults as early as possible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Data: 2000 as training, 2001 as testing (No state info used)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/>
              <a:t>Chall</a:t>
            </a:r>
            <a:r>
              <a:rPr b="1" lang="en"/>
              <a:t>e</a:t>
            </a:r>
            <a:r>
              <a:rPr b="1" lang="en"/>
              <a:t>nges:</a:t>
            </a:r>
            <a:endParaRPr b="1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Extremely imbalanced dataset (default ratio ~4.7%)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Need to capture hard positives while minimizing false negatives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190" name="Google Shape;190;p20"/>
          <p:cNvSpPr txBox="1"/>
          <p:nvPr/>
        </p:nvSpPr>
        <p:spPr>
          <a:xfrm>
            <a:off x="5486400" y="916825"/>
            <a:ext cx="3027900" cy="329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Tuning Strategy:</a:t>
            </a:r>
            <a:endParaRPr b="1" sz="13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Use 50,000 sample stratified subset for RandomizedSearchCV</a:t>
            </a:r>
            <a:endParaRPr sz="13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Optimized for Recall using pos_label=0</a:t>
            </a:r>
            <a:endParaRPr sz="13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Hyperparameters tested:</a:t>
            </a:r>
            <a:endParaRPr sz="13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n_estimators: [400, 800, 1000]</a:t>
            </a:r>
            <a:endParaRPr sz="13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learning_rate: [0.01, 0.03]</a:t>
            </a:r>
            <a:endParaRPr sz="13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max_depth: [3, 4, 6]</a:t>
            </a:r>
            <a:endParaRPr sz="13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min_samples_leaf: [1, 5]</a:t>
            </a:r>
            <a:endParaRPr sz="13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min_samples_split: [2, 5]</a:t>
            </a:r>
            <a:endParaRPr sz="13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subsample: [0.9, 1.0]</a:t>
            </a:r>
            <a:endParaRPr sz="13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21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GBM</a:t>
            </a:r>
            <a:endParaRPr/>
          </a:p>
        </p:txBody>
      </p:sp>
      <p:sp>
        <p:nvSpPr>
          <p:cNvPr id="196" name="Google Shape;196;p21"/>
          <p:cNvSpPr txBox="1"/>
          <p:nvPr>
            <p:ph idx="1" type="body"/>
          </p:nvPr>
        </p:nvSpPr>
        <p:spPr>
          <a:xfrm>
            <a:off x="1166625" y="1307850"/>
            <a:ext cx="3570600" cy="384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Code Summary &amp; Appendix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Model: GradientBoostingClassifier (scikit-learn)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Training Subset: 50k balanced sample from 2000 data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Preprocessing: SimpleImputer + StandardScaler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Evaluation: Probability output + threshold sweep to optimize recall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97" name="Google Shape;197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17700" y="2352850"/>
            <a:ext cx="3570601" cy="2380401"/>
          </a:xfrm>
          <a:prstGeom prst="rect">
            <a:avLst/>
          </a:prstGeom>
          <a:noFill/>
          <a:ln>
            <a:noFill/>
          </a:ln>
        </p:spPr>
      </p:pic>
      <p:sp>
        <p:nvSpPr>
          <p:cNvPr id="198" name="Google Shape;198;p21"/>
          <p:cNvSpPr txBox="1"/>
          <p:nvPr/>
        </p:nvSpPr>
        <p:spPr>
          <a:xfrm>
            <a:off x="4817700" y="492300"/>
            <a:ext cx="3137100" cy="190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gbm = GradientBoostingClassifier(...)</a:t>
            </a:r>
            <a:endParaRPr sz="13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gbm.fit(X_train, y_train)</a:t>
            </a:r>
            <a:endParaRPr sz="13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probs = gbm.predict_proba(X_test)[:, 1]</a:t>
            </a:r>
            <a:endParaRPr sz="13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preds = np.where(probs &gt; 0.005, 0, -1)</a:t>
            </a:r>
            <a:endParaRPr sz="13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99" name="Google Shape;199;p21"/>
          <p:cNvSpPr txBox="1"/>
          <p:nvPr/>
        </p:nvSpPr>
        <p:spPr>
          <a:xfrm>
            <a:off x="5582325" y="2012950"/>
            <a:ext cx="2235900" cy="33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Performance Metrics</a:t>
            </a:r>
            <a:endParaRPr sz="13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22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XGB - Hyperparameter Tuning (Subset)</a:t>
            </a:r>
            <a:endParaRPr/>
          </a:p>
        </p:txBody>
      </p:sp>
      <p:sp>
        <p:nvSpPr>
          <p:cNvPr id="205" name="Google Shape;205;p22"/>
          <p:cNvSpPr txBox="1"/>
          <p:nvPr>
            <p:ph idx="1" type="body"/>
          </p:nvPr>
        </p:nvSpPr>
        <p:spPr>
          <a:xfrm>
            <a:off x="1445225" y="1372825"/>
            <a:ext cx="16785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n_estimators=1000 max_depth=20</a:t>
            </a:r>
            <a:r>
              <a:rPr lang="en"/>
              <a:t> </a:t>
            </a:r>
            <a:r>
              <a:rPr lang="en"/>
              <a:t>learning_rate=0.05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[[7745   54]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[  95  106]]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F1(0):0.587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206" name="Google Shape;206;p22"/>
          <p:cNvSpPr txBox="1"/>
          <p:nvPr/>
        </p:nvSpPr>
        <p:spPr>
          <a:xfrm>
            <a:off x="3469463" y="1372825"/>
            <a:ext cx="1571400" cy="191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n_estimators=200 max_depth=20 learning_rate=0.2</a:t>
            </a:r>
            <a:endParaRPr sz="13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[[7746   53]</a:t>
            </a:r>
            <a:endParaRPr sz="13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[  96  105]]</a:t>
            </a:r>
            <a:endParaRPr sz="13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F1(0): 0.584</a:t>
            </a:r>
            <a:endParaRPr sz="13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07" name="Google Shape;207;p22"/>
          <p:cNvSpPr txBox="1"/>
          <p:nvPr/>
        </p:nvSpPr>
        <p:spPr>
          <a:xfrm>
            <a:off x="5708875" y="1356025"/>
            <a:ext cx="1678500" cy="194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n_estimators=500 max_depth=10 learning_rate=0.2</a:t>
            </a:r>
            <a:endParaRPr b="1" sz="13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3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[[7748   51]</a:t>
            </a:r>
            <a:endParaRPr b="1" sz="13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3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[  99  102]]</a:t>
            </a:r>
            <a:endParaRPr b="1" sz="13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3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F1(0): 0.576</a:t>
            </a:r>
            <a:endParaRPr b="1" sz="13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08" name="Google Shape;208;p22"/>
          <p:cNvSpPr txBox="1"/>
          <p:nvPr/>
        </p:nvSpPr>
        <p:spPr>
          <a:xfrm>
            <a:off x="2458950" y="3655500"/>
            <a:ext cx="3679800" cy="96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Lato"/>
              <a:buChar char="●"/>
            </a:pPr>
            <a:r>
              <a:rPr lang="en"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Lower depth reduces overfitting.</a:t>
            </a:r>
            <a:endParaRPr sz="13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Lato"/>
              <a:buChar char="●"/>
            </a:pPr>
            <a:r>
              <a:rPr lang="en"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Higher LR speeds convergence.</a:t>
            </a:r>
            <a:endParaRPr sz="13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Lato"/>
              <a:buChar char="●"/>
            </a:pPr>
            <a:r>
              <a:rPr lang="en"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Fewer trees save computation.</a:t>
            </a:r>
            <a:endParaRPr sz="13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23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XGB - Full Dataset Performance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4" name="Google Shape;214;p23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 [[702964   7307]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 [ 17017   5754]]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Accuracy: 0.967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Precision(0): 0.441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Recall(0): 0.253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Specificity: 0.990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F1(0): 0.321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24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MLN - Hyperparameter Tuning (Subset)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0" name="Google Shape;220;p24"/>
          <p:cNvSpPr txBox="1"/>
          <p:nvPr>
            <p:ph idx="1" type="body"/>
          </p:nvPr>
        </p:nvSpPr>
        <p:spPr>
          <a:xfrm>
            <a:off x="1344525" y="1359375"/>
            <a:ext cx="14838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layers=(10,)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alpha=0.001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lr_init=0.01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 [[7781   17]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 [  97  105]]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F1(0): 0.648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221" name="Google Shape;221;p24"/>
          <p:cNvSpPr txBox="1"/>
          <p:nvPr/>
        </p:nvSpPr>
        <p:spPr>
          <a:xfrm>
            <a:off x="3264725" y="1272375"/>
            <a:ext cx="1826400" cy="235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layers=(30,20,10)</a:t>
            </a:r>
            <a:endParaRPr sz="13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alpha=0.001 </a:t>
            </a:r>
            <a:endParaRPr sz="13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lr_init=0.01</a:t>
            </a:r>
            <a:endParaRPr sz="13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endParaRPr sz="13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[[7778   20]</a:t>
            </a:r>
            <a:endParaRPr sz="13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endParaRPr sz="13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[  95  107]]</a:t>
            </a:r>
            <a:endParaRPr sz="13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F1(0): 0.650</a:t>
            </a:r>
            <a:endParaRPr sz="13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22" name="Google Shape;222;p24"/>
          <p:cNvSpPr txBox="1"/>
          <p:nvPr/>
        </p:nvSpPr>
        <p:spPr>
          <a:xfrm>
            <a:off x="5628300" y="1272375"/>
            <a:ext cx="1927200" cy="235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layers=(20,) </a:t>
            </a:r>
            <a:endParaRPr b="1" sz="13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3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alpha=0.001 </a:t>
            </a:r>
            <a:endParaRPr b="1" sz="13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3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lr_init=0.01</a:t>
            </a:r>
            <a:endParaRPr b="1" sz="13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endParaRPr b="1" sz="13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[[7775   23]</a:t>
            </a:r>
            <a:endParaRPr b="1" sz="13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endParaRPr b="1" sz="13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[  93  109]]</a:t>
            </a:r>
            <a:endParaRPr b="1" sz="13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3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F1(0): 0.652</a:t>
            </a:r>
            <a:endParaRPr b="1" sz="13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25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MLN - Full Dataset Performance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8" name="Google Shape;228;p25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 [[707802   2469]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 [ 18970   3801]]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Accuracy: 0.971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Precision(0): 0.606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Recall(0): 0.167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Specificity: 0.997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F1(0): 0.262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26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RNN - Hyperparameter Tuning (Subset)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4" name="Google Shape;234;p26"/>
          <p:cNvSpPr txBox="1"/>
          <p:nvPr>
            <p:ph idx="1" type="body"/>
          </p:nvPr>
        </p:nvSpPr>
        <p:spPr>
          <a:xfrm>
            <a:off x="2154975" y="1464150"/>
            <a:ext cx="19470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{'units': 128, 'dropout_rate': 0.0, 'learning_rate': 0.001, 'epochs': 100, 'batch_size': 64}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 [[7776   22]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 [  98  104]]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F1 = 0.6341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235" name="Google Shape;235;p26"/>
          <p:cNvSpPr txBox="1"/>
          <p:nvPr/>
        </p:nvSpPr>
        <p:spPr>
          <a:xfrm>
            <a:off x="4896425" y="1464150"/>
            <a:ext cx="1980900" cy="221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{'units': 32, 'dropout_rate': 0.1, 'learning_rate': 0.001, 'epochs': 100, 'batch_size': 128}</a:t>
            </a:r>
            <a:endParaRPr sz="13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endParaRPr sz="13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[[7787   11]</a:t>
            </a:r>
            <a:endParaRPr sz="13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 [ 111   91]]</a:t>
            </a:r>
            <a:endParaRPr sz="13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F1 = 0.5987</a:t>
            </a:r>
            <a:endParaRPr sz="13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36" name="Google Shape;236;p26"/>
          <p:cNvSpPr txBox="1"/>
          <p:nvPr/>
        </p:nvSpPr>
        <p:spPr>
          <a:xfrm>
            <a:off x="3043300" y="3835650"/>
            <a:ext cx="38676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Dropout prevents overfitting.</a:t>
            </a:r>
            <a:endParaRPr sz="13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27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RNN - Full Dataset Performance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2" name="Google Shape;242;p27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 [[649833  60438]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 [  2538  20233]]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Accuracy: 0.9141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Precision(0): 0.2508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Recall(0): 0.8885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Specificity: 0.9149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F1(0): 0.3912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28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Future Research Directions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8" name="Google Shape;248;p28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Address imbalance: </a:t>
            </a:r>
            <a:endParaRPr/>
          </a:p>
          <a:p>
            <a:pPr indent="-311150" lvl="0" marL="457200" rtl="0" algn="l">
              <a:spcBef>
                <a:spcPts val="120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scale_pos_weight -&gt; increase recall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stratify=y_train_full -&gt; increase representative 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Future work</a:t>
            </a:r>
            <a:endParaRPr/>
          </a:p>
          <a:p>
            <a:pPr indent="-311150" lvl="0" marL="457200" rtl="0" algn="l">
              <a:spcBef>
                <a:spcPts val="120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Hold‑out + early stopping on the full training set → pick the right number of estimators and regularization.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Stratified K‑fold CV for robust hyper‑parameter selection of on the full distribution.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Threshold sweep on probabilities → maximize F1 on a validation slice.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29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LSTM</a:t>
            </a:r>
            <a:endParaRPr/>
          </a:p>
        </p:txBody>
      </p:sp>
      <p:sp>
        <p:nvSpPr>
          <p:cNvPr id="254" name="Google Shape;254;p29"/>
          <p:cNvSpPr txBox="1"/>
          <p:nvPr>
            <p:ph idx="1" type="body"/>
          </p:nvPr>
        </p:nvSpPr>
        <p:spPr>
          <a:xfrm>
            <a:off x="1297500" y="928525"/>
            <a:ext cx="4005600" cy="2236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75"/>
              <a:buNone/>
            </a:pPr>
            <a:r>
              <a:rPr b="1" lang="en" sz="1000"/>
              <a:t>Preprocessing Steps</a:t>
            </a:r>
            <a:endParaRPr b="1" sz="1000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000"/>
              <a:t>Log-transformation on ORIG_AMT, LAST_VAL</a:t>
            </a:r>
            <a:endParaRPr sz="1000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000"/>
              <a:t>Standardization of all numerical features</a:t>
            </a:r>
            <a:endParaRPr sz="1000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000"/>
              <a:t>One-hot encoding for PROP_TYP</a:t>
            </a:r>
            <a:endParaRPr sz="1000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000"/>
              <a:t>Excluded STATE column per project guidelines</a:t>
            </a:r>
            <a:endParaRPr sz="1000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000"/>
              <a:t>Reshaped input to 3D for LSTM: (samples, 1, features)</a:t>
            </a:r>
            <a:endParaRPr sz="1000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275"/>
              <a:buNone/>
            </a:pPr>
            <a:r>
              <a:t/>
            </a:r>
            <a:endParaRPr sz="1000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275"/>
              <a:buNone/>
            </a:pPr>
            <a:r>
              <a:t/>
            </a:r>
            <a:endParaRPr sz="1000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275"/>
              <a:buNone/>
            </a:pPr>
            <a:r>
              <a:t/>
            </a:r>
            <a:endParaRPr sz="1000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1200"/>
              </a:spcAft>
              <a:buSzPts val="275"/>
              <a:buNone/>
            </a:pPr>
            <a:r>
              <a:t/>
            </a:r>
            <a:endParaRPr sz="1000"/>
          </a:p>
        </p:txBody>
      </p:sp>
      <p:sp>
        <p:nvSpPr>
          <p:cNvPr id="255" name="Google Shape;255;p29"/>
          <p:cNvSpPr txBox="1"/>
          <p:nvPr/>
        </p:nvSpPr>
        <p:spPr>
          <a:xfrm>
            <a:off x="3411600" y="2785925"/>
            <a:ext cx="3201900" cy="174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Training Strategy</a:t>
            </a:r>
            <a:endParaRPr b="1" sz="10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Randomized hyperparameter search (3 trials)</a:t>
            </a:r>
            <a:endParaRPr sz="10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Validation split: 20%</a:t>
            </a:r>
            <a:endParaRPr sz="10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Class weighting: {0: 1, 1: 2.5} to handle imbalance</a:t>
            </a:r>
            <a:endParaRPr sz="10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Optimizer: Adam (learning rate: 0.001)</a:t>
            </a:r>
            <a:endParaRPr sz="10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Trained over 10 epochs with batch size = 64</a:t>
            </a:r>
            <a:endParaRPr sz="10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Model selection based on highest F1 score</a:t>
            </a:r>
            <a:endParaRPr sz="10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0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56" name="Google Shape;256;p29"/>
          <p:cNvSpPr txBox="1"/>
          <p:nvPr/>
        </p:nvSpPr>
        <p:spPr>
          <a:xfrm>
            <a:off x="5303100" y="928525"/>
            <a:ext cx="2991300" cy="149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Model Architecture</a:t>
            </a:r>
            <a:endParaRPr b="1" sz="10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Single LSTM layer with 64 units</a:t>
            </a:r>
            <a:endParaRPr sz="10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Dropout (0.2) to reduce overfitting</a:t>
            </a:r>
            <a:endParaRPr sz="10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Dense layer (32 units) before sigmoid output</a:t>
            </a:r>
            <a:endParaRPr sz="10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Final output: binary default prediction</a:t>
            </a:r>
            <a:endParaRPr sz="10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0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30"/>
          <p:cNvSpPr txBox="1"/>
          <p:nvPr>
            <p:ph type="title"/>
          </p:nvPr>
        </p:nvSpPr>
        <p:spPr>
          <a:xfrm>
            <a:off x="1297500" y="430425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LSTM</a:t>
            </a:r>
            <a:endParaRPr/>
          </a:p>
        </p:txBody>
      </p:sp>
      <p:sp>
        <p:nvSpPr>
          <p:cNvPr id="262" name="Google Shape;262;p30"/>
          <p:cNvSpPr txBox="1"/>
          <p:nvPr/>
        </p:nvSpPr>
        <p:spPr>
          <a:xfrm>
            <a:off x="1965588" y="1004625"/>
            <a:ext cx="2235900" cy="33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Performance Metrics</a:t>
            </a:r>
            <a:endParaRPr sz="13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63" name="Google Shape;263;p30"/>
          <p:cNvSpPr txBox="1"/>
          <p:nvPr/>
        </p:nvSpPr>
        <p:spPr>
          <a:xfrm>
            <a:off x="783525" y="3273925"/>
            <a:ext cx="4506000" cy="73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Excellent balance between catching defaults (recall = 70%) and avoiding false alarms (precision = 77%)</a:t>
            </a:r>
            <a:endParaRPr sz="10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Very high specificity (99.3%): safe borrowers are rarely misclassified</a:t>
            </a:r>
            <a:endParaRPr sz="10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64" name="Google Shape;264;p30"/>
          <p:cNvSpPr txBox="1"/>
          <p:nvPr/>
        </p:nvSpPr>
        <p:spPr>
          <a:xfrm>
            <a:off x="5702175" y="1512400"/>
            <a:ext cx="2397300" cy="192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Best hyperparameter:</a:t>
            </a:r>
            <a:endParaRPr sz="13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-139700" lvl="0" marL="17145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Lato"/>
              <a:buChar char="●"/>
            </a:pPr>
            <a:r>
              <a:rPr lang="en"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units: 64</a:t>
            </a:r>
            <a:endParaRPr sz="13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-139700" lvl="0" marL="17145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Lato"/>
              <a:buChar char="●"/>
            </a:pPr>
            <a:r>
              <a:rPr lang="en"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dropout: 0.2</a:t>
            </a:r>
            <a:endParaRPr sz="13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-139700" lvl="0" marL="17145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Lato"/>
              <a:buChar char="●"/>
            </a:pPr>
            <a:r>
              <a:rPr lang="en"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batch_size: 64</a:t>
            </a:r>
            <a:endParaRPr sz="13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-139700" lvl="0" marL="17145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Lato"/>
              <a:buChar char="●"/>
            </a:pPr>
            <a:r>
              <a:rPr lang="en"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learning_rate: 0.001</a:t>
            </a:r>
            <a:endParaRPr sz="13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-139700" lvl="0" marL="17145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Lato"/>
              <a:buChar char="●"/>
            </a:pPr>
            <a:r>
              <a:rPr lang="en"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epochs: 10</a:t>
            </a:r>
            <a:endParaRPr sz="13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265" name="Google Shape;265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97500" y="1496925"/>
            <a:ext cx="3317707" cy="1624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31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GRU</a:t>
            </a:r>
            <a:endParaRPr/>
          </a:p>
        </p:txBody>
      </p:sp>
      <p:sp>
        <p:nvSpPr>
          <p:cNvPr id="271" name="Google Shape;271;p31"/>
          <p:cNvSpPr txBox="1"/>
          <p:nvPr>
            <p:ph idx="1" type="body"/>
          </p:nvPr>
        </p:nvSpPr>
        <p:spPr>
          <a:xfrm>
            <a:off x="1339500" y="1075225"/>
            <a:ext cx="4005600" cy="2236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75"/>
              <a:buNone/>
            </a:pPr>
            <a:r>
              <a:rPr b="1" lang="en" sz="1000"/>
              <a:t>Preprocessing Steps</a:t>
            </a:r>
            <a:endParaRPr b="1" sz="1000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275"/>
              <a:buNone/>
            </a:pPr>
            <a:r>
              <a:rPr lang="en" sz="1000"/>
              <a:t>Log-transformation of skewed features (ORIG_AMT, LAST_VAL)</a:t>
            </a:r>
            <a:endParaRPr sz="1000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275"/>
              <a:buNone/>
            </a:pPr>
            <a:r>
              <a:rPr lang="en" sz="1000"/>
              <a:t>One-hot encoding for PROP_TYP</a:t>
            </a:r>
            <a:endParaRPr sz="1000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275"/>
              <a:buNone/>
            </a:pPr>
            <a:r>
              <a:rPr lang="en" sz="1000"/>
              <a:t>Standardization using StandardScaler</a:t>
            </a:r>
            <a:endParaRPr sz="1000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275"/>
              <a:buNone/>
            </a:pPr>
            <a:r>
              <a:rPr lang="en" sz="1000"/>
              <a:t>Reshap</a:t>
            </a:r>
            <a:r>
              <a:rPr lang="en" sz="1000"/>
              <a:t>e</a:t>
            </a:r>
            <a:r>
              <a:rPr lang="en" sz="1000"/>
              <a:t>d input for GRU format: (samples, 1, features)</a:t>
            </a:r>
            <a:endParaRPr sz="1000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275"/>
              <a:buNone/>
            </a:pPr>
            <a:r>
              <a:t/>
            </a:r>
            <a:endParaRPr sz="1000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275"/>
              <a:buNone/>
            </a:pPr>
            <a:r>
              <a:t/>
            </a:r>
            <a:endParaRPr sz="1000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1200"/>
              </a:spcAft>
              <a:buSzPts val="275"/>
              <a:buNone/>
            </a:pPr>
            <a:r>
              <a:t/>
            </a:r>
            <a:endParaRPr sz="1000"/>
          </a:p>
        </p:txBody>
      </p:sp>
      <p:sp>
        <p:nvSpPr>
          <p:cNvPr id="272" name="Google Shape;272;p31"/>
          <p:cNvSpPr txBox="1"/>
          <p:nvPr/>
        </p:nvSpPr>
        <p:spPr>
          <a:xfrm>
            <a:off x="3107425" y="2871500"/>
            <a:ext cx="3201900" cy="174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5"/>
              <a:buFont typeface="Arial"/>
              <a:buNone/>
            </a:pPr>
            <a:r>
              <a:rPr b="1" lang="en"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Training Strategy</a:t>
            </a:r>
            <a:endParaRPr b="1" sz="10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Random search over 3 trials for hyperparameters</a:t>
            </a:r>
            <a:endParaRPr sz="10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75"/>
              <a:buFont typeface="Arial"/>
              <a:buNone/>
            </a:pPr>
            <a:r>
              <a:rPr lang="en"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Early stopping (patience = 3)</a:t>
            </a:r>
            <a:endParaRPr sz="10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75"/>
              <a:buFont typeface="Arial"/>
              <a:buNone/>
            </a:pPr>
            <a:r>
              <a:rPr lang="en"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Class weighting {0: 1, 1: 2.5}</a:t>
            </a:r>
            <a:endParaRPr sz="10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75"/>
              <a:buFont typeface="Arial"/>
              <a:buNone/>
            </a:pPr>
            <a:r>
              <a:rPr lang="en"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Optimizer: Adam (learning rate: 0.001)</a:t>
            </a:r>
            <a:endParaRPr sz="10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1200"/>
              </a:spcAft>
              <a:buClr>
                <a:srgbClr val="000000"/>
              </a:buClr>
              <a:buSzPts val="275"/>
              <a:buFont typeface="Arial"/>
              <a:buNone/>
            </a:pPr>
            <a:r>
              <a:rPr lang="en"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Final threshold: 0.5 for binary classification</a:t>
            </a:r>
            <a:endParaRPr sz="13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73" name="Google Shape;273;p31"/>
          <p:cNvSpPr txBox="1"/>
          <p:nvPr/>
        </p:nvSpPr>
        <p:spPr>
          <a:xfrm>
            <a:off x="5345100" y="1135650"/>
            <a:ext cx="2991300" cy="125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5"/>
              <a:buFont typeface="Arial"/>
              <a:buNone/>
            </a:pPr>
            <a:r>
              <a:rPr b="1" lang="en"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Model Architecture</a:t>
            </a:r>
            <a:endParaRPr b="1" sz="10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75"/>
              <a:buFont typeface="Arial"/>
              <a:buNone/>
            </a:pPr>
            <a:r>
              <a:rPr lang="en"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Two GRU layers (64 units each) with return_sequences</a:t>
            </a:r>
            <a:endParaRPr sz="10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75"/>
              <a:buFont typeface="Arial"/>
              <a:buNone/>
            </a:pPr>
            <a:r>
              <a:rPr lang="en"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Dropout (0.2) after each GRU layer</a:t>
            </a:r>
            <a:endParaRPr sz="10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1200"/>
              </a:spcAft>
              <a:buClr>
                <a:srgbClr val="000000"/>
              </a:buClr>
              <a:buSzPts val="275"/>
              <a:buFont typeface="Arial"/>
              <a:buNone/>
            </a:pPr>
            <a:r>
              <a:rPr lang="en"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Dense hidden layer + output layer with sigmoid activation</a:t>
            </a:r>
            <a:endParaRPr sz="10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32"/>
          <p:cNvSpPr txBox="1"/>
          <p:nvPr>
            <p:ph type="title"/>
          </p:nvPr>
        </p:nvSpPr>
        <p:spPr>
          <a:xfrm>
            <a:off x="1297500" y="430425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GRU</a:t>
            </a:r>
            <a:endParaRPr/>
          </a:p>
        </p:txBody>
      </p:sp>
      <p:pic>
        <p:nvPicPr>
          <p:cNvPr id="279" name="Google Shape;279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97500" y="1470250"/>
            <a:ext cx="3316875" cy="1677950"/>
          </a:xfrm>
          <a:prstGeom prst="rect">
            <a:avLst/>
          </a:prstGeom>
          <a:noFill/>
          <a:ln>
            <a:noFill/>
          </a:ln>
        </p:spPr>
      </p:pic>
      <p:sp>
        <p:nvSpPr>
          <p:cNvPr id="280" name="Google Shape;280;p32"/>
          <p:cNvSpPr txBox="1"/>
          <p:nvPr/>
        </p:nvSpPr>
        <p:spPr>
          <a:xfrm>
            <a:off x="1965588" y="1004625"/>
            <a:ext cx="2235900" cy="33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Performance </a:t>
            </a:r>
            <a:r>
              <a:rPr lang="en"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Metrics</a:t>
            </a:r>
            <a:endParaRPr sz="13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81" name="Google Shape;281;p32"/>
          <p:cNvSpPr txBox="1"/>
          <p:nvPr/>
        </p:nvSpPr>
        <p:spPr>
          <a:xfrm>
            <a:off x="783525" y="3273925"/>
            <a:ext cx="4506000" cy="73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The GRU model balances recall and precision, with an F1 score close to 0.70.</a:t>
            </a:r>
            <a:endParaRPr sz="10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High specificity (99%) minimizes false positives — important in preserving good borrowers.</a:t>
            </a:r>
            <a:endParaRPr sz="10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82" name="Google Shape;282;p32"/>
          <p:cNvSpPr txBox="1"/>
          <p:nvPr/>
        </p:nvSpPr>
        <p:spPr>
          <a:xfrm>
            <a:off x="5702175" y="1512400"/>
            <a:ext cx="2397300" cy="192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Best </a:t>
            </a:r>
            <a:r>
              <a:rPr lang="en"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hyperparameter</a:t>
            </a:r>
            <a:r>
              <a:rPr lang="en"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:</a:t>
            </a:r>
            <a:endParaRPr sz="13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-139700" lvl="0" marL="17145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Lato"/>
              <a:buChar char="●"/>
            </a:pPr>
            <a:r>
              <a:rPr lang="en"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units: 64</a:t>
            </a:r>
            <a:endParaRPr sz="13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-139700" lvl="0" marL="17145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Lato"/>
              <a:buChar char="●"/>
            </a:pPr>
            <a:r>
              <a:rPr lang="en"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dropout: 0.2</a:t>
            </a:r>
            <a:endParaRPr sz="13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-139700" lvl="0" marL="17145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Lato"/>
              <a:buChar char="●"/>
            </a:pPr>
            <a:r>
              <a:rPr lang="en"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batch_size: 128</a:t>
            </a:r>
            <a:endParaRPr sz="13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-139700" lvl="0" marL="17145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Lato"/>
              <a:buChar char="●"/>
            </a:pPr>
            <a:r>
              <a:rPr lang="en"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learning_rate: 0.001</a:t>
            </a:r>
            <a:endParaRPr sz="13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-139700" lvl="0" marL="17145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Lato"/>
              <a:buChar char="●"/>
            </a:pPr>
            <a:r>
              <a:rPr lang="en"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epochs: 20</a:t>
            </a:r>
            <a:endParaRPr sz="13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p33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Overall Model Comparison Summary</a:t>
            </a:r>
            <a:endParaRPr/>
          </a:p>
        </p:txBody>
      </p:sp>
      <p:pic>
        <p:nvPicPr>
          <p:cNvPr id="288" name="Google Shape;288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26325" y="1153000"/>
            <a:ext cx="6017749" cy="3615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p34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Final Takeaways</a:t>
            </a:r>
            <a:endParaRPr/>
          </a:p>
        </p:txBody>
      </p:sp>
      <p:sp>
        <p:nvSpPr>
          <p:cNvPr id="294" name="Google Shape;294;p34"/>
          <p:cNvSpPr txBox="1"/>
          <p:nvPr>
            <p:ph idx="1" type="body"/>
          </p:nvPr>
        </p:nvSpPr>
        <p:spPr>
          <a:xfrm>
            <a:off x="1133275" y="1062750"/>
            <a:ext cx="7203300" cy="341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Key Takeaways</a:t>
            </a:r>
            <a:endParaRPr/>
          </a:p>
          <a:p>
            <a:pPr indent="-304958" lvl="0" marL="457200" rtl="0" algn="l">
              <a:spcBef>
                <a:spcPts val="120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Random Forest: Best at catching defaulters — perfect for risk-averse lending strategies.</a:t>
            </a:r>
            <a:endParaRPr/>
          </a:p>
          <a:p>
            <a:pPr indent="-304958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SVM and RNN: High recall with more stability — great trade-off control.</a:t>
            </a:r>
            <a:endParaRPr/>
          </a:p>
          <a:p>
            <a:pPr indent="-304958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LSTM: Strongest overall model (F1 = 0.735), very high precision and specificity — ideal in both risk and operational terms.</a:t>
            </a:r>
            <a:endParaRPr/>
          </a:p>
          <a:p>
            <a:pPr indent="-304958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XGBoost: Ideal for minimizing false positives — conservative flagging.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What We’d Recommend</a:t>
            </a:r>
            <a:endParaRPr/>
          </a:p>
          <a:p>
            <a:pPr indent="-304958" lvl="0" marL="457200" rtl="0" algn="l">
              <a:spcBef>
                <a:spcPts val="120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Deploy LSTM or GRU in production for best balance.</a:t>
            </a:r>
            <a:endParaRPr/>
          </a:p>
          <a:p>
            <a:pPr indent="-304958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Use Random Forest or RNN in high-risk pools to avoid missing defaults.</a:t>
            </a:r>
            <a:endParaRPr/>
          </a:p>
          <a:p>
            <a:pPr indent="-304958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Consider ensemble voting or score averaging between top models (e.g., LSTM + XGB).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Future Work</a:t>
            </a:r>
            <a:endParaRPr/>
          </a:p>
          <a:p>
            <a:pPr indent="-304958" lvl="0" marL="457200" rtl="0" algn="l">
              <a:spcBef>
                <a:spcPts val="120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Integrate cost-sensitive loss functions based on lender economics.</a:t>
            </a:r>
            <a:endParaRPr/>
          </a:p>
          <a:p>
            <a:pPr indent="-304958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Deploy threshold optimization tied to profit/loss outcomes.</a:t>
            </a:r>
            <a:endParaRPr/>
          </a:p>
          <a:p>
            <a:pPr indent="-304958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Add borrower behavior &amp; credit history features to boost predictive power.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Focus">
  <a:themeElements>
    <a:clrScheme name="Focus">
      <a:dk1>
        <a:srgbClr val="1B212C"/>
      </a:dk1>
      <a:lt1>
        <a:srgbClr val="FFFFFF"/>
      </a:lt1>
      <a:dk2>
        <a:srgbClr val="D9D9D9"/>
      </a:dk2>
      <a:lt2>
        <a:srgbClr val="82C7A5"/>
      </a:lt2>
      <a:accent1>
        <a:srgbClr val="0145AC"/>
      </a:accent1>
      <a:accent2>
        <a:srgbClr val="EECE1A"/>
      </a:accent2>
      <a:accent3>
        <a:srgbClr val="4E5567"/>
      </a:accent3>
      <a:accent4>
        <a:srgbClr val="F4D6AD"/>
      </a:accent4>
      <a:accent5>
        <a:srgbClr val="7890CD"/>
      </a:accent5>
      <a:accent6>
        <a:srgbClr val="F15E22"/>
      </a:accent6>
      <a:hlink>
        <a:srgbClr val="7890CD"/>
      </a:hlink>
      <a:folHlink>
        <a:srgbClr val="7890C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